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Gemessener Wert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10-4C2B-88F4-695A11A09A6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A10-4C2B-88F4-695A11A09A62}"/>
              </c:ext>
            </c:extLst>
          </c:dPt>
          <c:dPt>
            <c:idx val="2"/>
            <c:invertIfNegative val="0"/>
            <c:bubble3D val="0"/>
            <c:spPr>
              <a:solidFill>
                <a:srgbClr val="1A7D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A10-4C2B-88F4-695A11A09A62}"/>
              </c:ext>
            </c:extLst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A10-4C2B-88F4-695A11A09A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D3557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p(50) Response Time</c:v>
                </c:pt>
                <c:pt idx="1">
                  <c:v>p(90) Response Time</c:v>
                </c:pt>
                <c:pt idx="2">
                  <c:v>p(95) Response Time</c:v>
                </c:pt>
                <c:pt idx="3">
                  <c:v>Threshold p(95)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310</c:v>
                </c:pt>
                <c:pt idx="2">
                  <c:v>352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10-4C2B-88F4-695A11A09A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6350" cap="flat">
              <a:solidFill>
                <a:srgbClr val="E2EA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998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WAT4 · Projektarbeit · Juni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Application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18288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" y="3886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 Herndler, Lucas Kemmer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Anwendungsübersicht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3891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 OWASP Juice Shop?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absichtlich verwundbare Web-Applikation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Entwickelt für Security-Training und CTFs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Simuliert einen realistischen E-Commerce-Shop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Deckt OWASP Top 10 Schwachstellen ab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juice-shop/juice-shop (Fork: juice-shop-wat4)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749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16636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1664208"/>
            <a:ext cx="3383280" cy="420624"/>
          </a:xfrm>
          <a:prstGeom prst="roundRect">
            <a:avLst>
              <a:gd name="adj" fmla="val 21739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212080" y="1664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TypeScript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2231136"/>
            <a:ext cx="3383280" cy="420624"/>
          </a:xfrm>
          <a:prstGeom prst="roundRect">
            <a:avLst>
              <a:gd name="adj" fmla="val 21739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212080" y="22311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(Frontend)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798064"/>
            <a:ext cx="3383280" cy="420624"/>
          </a:xfrm>
          <a:prstGeom prst="roundRect">
            <a:avLst>
              <a:gd name="adj" fmla="val 21739"/>
            </a:avLst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212080" y="279806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(REST API)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3364992"/>
            <a:ext cx="3383280" cy="420624"/>
          </a:xfrm>
          <a:prstGeom prst="roundRect">
            <a:avLst>
              <a:gd name="adj" fmla="val 21739"/>
            </a:avLst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212080" y="336499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Sequelize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3931920"/>
            <a:ext cx="3383280" cy="420624"/>
          </a:xfrm>
          <a:prstGeom prst="roundRect">
            <a:avLst>
              <a:gd name="adj" fmla="val 21739"/>
            </a:avLst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212080" y="393192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MarsDB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Pyramide &amp; Strategie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1737360" y="1554480"/>
            <a:ext cx="109728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783080" y="15544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16642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2331720"/>
            <a:ext cx="2103120" cy="658368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244144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3108960" cy="65836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32186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" y="3886200"/>
            <a:ext cx="4114800" cy="658368"/>
          </a:xfrm>
          <a:prstGeom prst="rect">
            <a:avLst/>
          </a:prstGeom>
          <a:solidFill>
            <a:srgbClr val="5B8FBE"/>
          </a:solidFill>
          <a:ln w="12700">
            <a:solidFill>
              <a:srgbClr val="5B8FBE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399592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&amp; Tools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0600" y="160020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4983480" y="1664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1993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Integration · E2E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69748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983480" y="2761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(Grafana Labs)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9476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983480" y="3858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7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(automatisiert)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Setup &amp; Isolation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645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Ausführung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52704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test — führt alle Unit-, Integration- und E2E-Tests aus. npm run test:product-search:k6 startet den Load Test gegen eine laufende Instanz.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64008" cy="1645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828032" y="11155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Isolation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8032" y="152704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Test verwendet eigene Credentials (jim@juice-sh.op). Basket-Tests laufen serial (test.describe.serial), um Race Conditions zu vermeiden. UI-Tests setzen Cookies vor Navigation.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64008" cy="1645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30352" y="2944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335584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(.github/workflows/playwright.yml) — trigger on push/PR to main. Installiert Dependencies, Playwright-Browser, führt Tests aus, lädt Reports als Artifacts hoch.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64008" cy="1645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828032" y="2944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Konfiguration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28032" y="3355848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 definiert baseURL (http://localhost:3000). Umgebungsvariable PLAYWRIGHT_BASE_URL überschreibbar für CI. k6 nutzt BASE_URL Environment-Variable.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 (5×) — lib/insecurity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Getestetes Modul: lib/insecurity.ts — Sicherheitshilfsfunktionen (Coupons, JWT, Sanitization). Framework: Playwright Test Runner (direkte TypeScript Imports, kein Browser nötig).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57200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7863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1005840" y="18653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Round-Trip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 sicher, dass ein generierter Coupon denselben Rabatt zurückliefert → korrekte Encode/Decode Logik.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50592"/>
            <a:ext cx="457200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450592"/>
            <a:ext cx="7863840" cy="475488"/>
          </a:xfrm>
          <a:prstGeom prst="rect">
            <a:avLst/>
          </a:prstGeom>
          <a:solidFill>
            <a:srgbClr val="EBF2FA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Abgelaufener Coupon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974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Überprüft, dass ein Coupon aus der Vergangenheit (2001) als ungültig abgewiesen wird → zeitbasierte Validierung.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457200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365760" y="307238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072384"/>
            <a:ext cx="7863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1005840" y="3108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Signierung &amp; Verify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3192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Frisch signiertes Token muss als valid gelten → Grundfunktion der Authentifizierung.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457200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365760" y="369417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3694176"/>
            <a:ext cx="7863840" cy="475488"/>
          </a:xfrm>
          <a:prstGeom prst="rect">
            <a:avLst/>
          </a:prstGeom>
          <a:solidFill>
            <a:srgbClr val="EBF2FA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1005840" y="37307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Manipuliertes JWT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94106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verändertes Token (letztes Zeichen geändert) muss abgelehnt werden → Tamper-Detection.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315968"/>
            <a:ext cx="457200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365760" y="43159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4315968"/>
            <a:ext cx="7863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1005840" y="43525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Sanitization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56285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Script-Tags werden entfernt, sicherer HTML-Content bleibt erhalten → Schutz vor Cross-Site-Scripting.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 (3×) — Basket 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Getesteter Endpunkt: /api/BasketItems — HTTP-Requests via Playwright APIRequestContext. Login als jim@juice-sh.op, dann CRUD-Operationen auf echtem Backend (SQLite).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64008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438912" cy="384048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Produkt zum Warenkorb hinzufügen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POST /api/BasketItems → HTTP 200, korrektes BasketId &amp; ProductId in Response + GET /rest/basket/:id bestätigt Eintrag.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505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Warum: Kernanforderung: Artikel müssen im Backend persistiert werden.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64008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502920" y="2898648"/>
            <a:ext cx="438912" cy="384048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02920" y="28986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Artikel aus Warenkorb entfernen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369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POST zum Anlegen, dann DELETE /api/BasketItems/:id → HTTP 200. Anschließend GET → HTTP 404.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4747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Warum: Löschen darf keine Zombie-Einträge hinterlassen.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8412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365760" y="3877056"/>
            <a:ext cx="64008" cy="9144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502920" y="3922776"/>
            <a:ext cx="438912" cy="384048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502920" y="392277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9502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Menge eines Artikels aktualisieren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2611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Artikel anlegen (quantity: 2), dann PUT /api/BasketItems/:id mit quantity: 5 → Response enthält aktualisierte Menge.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4988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Warum: Mengenänderung ist kritischer Business-Flow vor dem Checkout.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Tests (2×) — Shopping Cart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Firefox (Playwright). Cookie-Seeding deaktiviert Consent-Dialoge vor jedem Test — kein manueller Klick nötig.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206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20624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Artikel hinzufügen &amp; Basket prüfen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347472" cy="4572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404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nach "Apple Juice"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347472" cy="4572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3063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Add-Button 2× klicken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75888"/>
            <a:ext cx="347472" cy="4572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721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zeigt "2" → State korrekt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347472" cy="4572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502920" y="433425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3799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öffnen → Produkt &amp; Menge &amp; Preis sichtbar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783080"/>
            <a:ext cx="4206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4754880" y="1783080"/>
            <a:ext cx="4206240" cy="438912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892040" y="17830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Artikel entfernen &amp; Badge zurücksetzen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359152"/>
            <a:ext cx="347472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4892040" y="23591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1808" y="2404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in Basket legen → Badge zeigt "1"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017520"/>
            <a:ext cx="347472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4892040" y="3017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3063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öffnen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675888"/>
            <a:ext cx="347472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4892040" y="36758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3721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Löschen-Button klicken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4334256"/>
            <a:ext cx="347472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4892040" y="433425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43799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Tabellenzeile weg, Badge zeigt "0"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Test (1×) — k6 Product 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Test-Konfiguration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1600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(Grafana Labs)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4114800" cy="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Endpunkt: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21214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/rest/products/search?q={keyword}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4114800" cy="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548640" y="26426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6426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virtuelle Nutzer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4114800" cy="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548640" y="3163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Iterationen: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3163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gesamt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83864"/>
            <a:ext cx="4114800" cy="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Time: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3685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0–2 Sekunden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4114800" cy="0"/>
          </a:xfrm>
          <a:prstGeom prst="line">
            <a:avLst/>
          </a:prstGeom>
          <a:noFill/>
          <a:ln w="6350">
            <a:solidFill>
              <a:srgbClr val="E2EAF4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4206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juice, raspberry, banana, organic, chocolate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1005840"/>
            <a:ext cx="35661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539496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49240" y="1600200"/>
            <a:ext cx="3246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5349240" y="1600200"/>
            <a:ext cx="3246120" cy="4114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544068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http_req_duration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7B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p(95) &lt; 1200ms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24048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der Requests müssen unter 1,2 Sekunden bleiben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49240" y="3246120"/>
            <a:ext cx="3246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1" name="Shape 29"/>
          <p:cNvSpPr/>
          <p:nvPr/>
        </p:nvSpPr>
        <p:spPr>
          <a:xfrm>
            <a:off x="5349240" y="3246120"/>
            <a:ext cx="3246120" cy="41148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544068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http_req_failed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3703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&lt; 1%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405079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Fehlerrate (Non-2xx) muss unter 1% bleiben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Test Ergebnisse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solidFill>
            <a:srgbClr val="1A7D4A"/>
          </a:solidFill>
          <a:ln w="12700">
            <a:solidFill>
              <a:srgbClr val="1A7D4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Response Time p(95)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7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352ms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&lt; 1.200ms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A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unter Limit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solidFill>
            <a:srgbClr val="1A7D4A"/>
          </a:solidFill>
          <a:ln w="12700">
            <a:solidFill>
              <a:srgbClr val="1A7D4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Fehlerrate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7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754880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&lt; 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670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A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fehlgeschlagenen Requests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3063240"/>
          <a:ext cx="84124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Zusammenfassung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1155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 implementiert — 5 Unit, 3 Integration, 2 E2E, 1 Load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1148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773936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deckt alle funktionalen Test-Ebenen ab (TypeScript)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41148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Test: p95 = 352ms, 0% Fehler — alle Thresholds bestanden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41148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0906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 automatisiert Test-Ausführung auf Push/PR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41148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Test-Isolation durch Serial-Execution und Cookie-Seeding sichergestellt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KI-Werkzeuge: GitHub Copilot (Ideen &amp; Playwright-Konfiguration), Claude (Dokumentation &amp; Präsentation)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872</Words>
  <Application>Microsoft Office PowerPoint</Application>
  <PresentationFormat>Bildschirmpräsentation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Testing — OWASP Juice Shop</dc:title>
  <dc:subject>PptxGenJS Presentation</dc:subject>
  <dc:creator>Christoph Herndler</dc:creator>
  <cp:lastModifiedBy>Herndler-Brandstetter Christoph - s2410307012</cp:lastModifiedBy>
  <cp:revision>2</cp:revision>
  <dcterms:created xsi:type="dcterms:W3CDTF">2026-06-24T16:41:08Z</dcterms:created>
  <dcterms:modified xsi:type="dcterms:W3CDTF">2026-06-24T16:44:48Z</dcterms:modified>
</cp:coreProperties>
</file>