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5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514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72256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8686800" y="0"/>
            <a:ext cx="457200" cy="51435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457B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WAT4 · Projektarbeit · Juni 2026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46304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Application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02920" y="32004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8B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Juice Shop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02920" y="3703320"/>
            <a:ext cx="1828800" cy="54864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502920" y="3886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A8B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Christoph Herndler, Lucas Kemmer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Anwendungsübersicht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3891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ist OWASP Juice Shop?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" y="1627632"/>
            <a:ext cx="40233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absichtlich verwundbare Web-Applikation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Entwickelt für Security-Training und CTFs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Simuliert einen realistischen E-Commerce-Shop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Deckt OWASP Top 10 Schwachstellen ab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juice-shop/juice-shop (Fork: juice-shop-wat4)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0" y="1005840"/>
            <a:ext cx="374904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5166360" y="11430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 Stack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212080" y="1664208"/>
            <a:ext cx="3383280" cy="420624"/>
          </a:xfrm>
          <a:prstGeom prst="roundRect">
            <a:avLst>
              <a:gd name="adj" fmla="val 21739"/>
            </a:avLst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5212080" y="166420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/ TypeScript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212080" y="2231136"/>
            <a:ext cx="3383280" cy="420624"/>
          </a:xfrm>
          <a:prstGeom prst="roundRect">
            <a:avLst>
              <a:gd name="adj" fmla="val 21739"/>
            </a:avLst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5212080" y="2231136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(Frontend)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212080" y="2798064"/>
            <a:ext cx="3383280" cy="420624"/>
          </a:xfrm>
          <a:prstGeom prst="roundRect">
            <a:avLst>
              <a:gd name="adj" fmla="val 21739"/>
            </a:avLst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5212080" y="2798064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(REST API)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212080" y="3364992"/>
            <a:ext cx="3383280" cy="420624"/>
          </a:xfrm>
          <a:prstGeom prst="roundRect">
            <a:avLst>
              <a:gd name="adj" fmla="val 21739"/>
            </a:avLst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5212080" y="3364992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/ Sequelize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212080" y="3931920"/>
            <a:ext cx="3383280" cy="420624"/>
          </a:xfrm>
          <a:prstGeom prst="roundRect">
            <a:avLst>
              <a:gd name="adj" fmla="val 21739"/>
            </a:avLst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5212080" y="3931920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/ MarsDB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Pyramide &amp; Strategie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1737360" y="1554480"/>
            <a:ext cx="1097280" cy="65836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1783080" y="155448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240280" y="166420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34440" y="2331720"/>
            <a:ext cx="2103120" cy="658368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1280160" y="233172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/ System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0" y="244144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3108960" cy="658368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777240" y="310896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46120" y="321868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28600" y="3886200"/>
            <a:ext cx="4114800" cy="658368"/>
          </a:xfrm>
          <a:prstGeom prst="rect">
            <a:avLst/>
          </a:prstGeom>
          <a:solidFill>
            <a:srgbClr val="5B8FBE"/>
          </a:solidFill>
          <a:ln w="12700">
            <a:solidFill>
              <a:srgbClr val="5B8FBE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274320" y="388620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49040" y="399592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40×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663440" y="1005840"/>
            <a:ext cx="411480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4846320" y="10972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Frameworks &amp; Tools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00600" y="1600200"/>
            <a:ext cx="37490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4983480" y="16642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3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Playwright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983480" y="19933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· Integration · E2E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800600" y="2697480"/>
            <a:ext cx="37490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2" name="Text 20"/>
          <p:cNvSpPr/>
          <p:nvPr/>
        </p:nvSpPr>
        <p:spPr>
          <a:xfrm>
            <a:off x="4983480" y="27614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394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983480" y="309067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Testing (Grafana Labs)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00600" y="3794760"/>
            <a:ext cx="37490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983480" y="385876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57B9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983480" y="41879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 (automatisiert)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 Tests (40×) — zwei Dateien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16052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4160520" cy="41148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security.spec.ts — 5 Tests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Modul: lib/insecurity.ts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764792"/>
            <a:ext cx="320040" cy="36576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502920" y="176479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96112" y="179222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Round-Trip (Encode/Decode)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276856"/>
            <a:ext cx="320040" cy="36576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502920" y="227685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96112" y="230428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Abgelaufener Coupon → undefined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788920"/>
            <a:ext cx="320040" cy="36576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502920" y="2788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6112" y="281635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Signierung &amp; Verifikation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3300984"/>
            <a:ext cx="320040" cy="36576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502920" y="330098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96112" y="3328416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Manipuliertes JWT → abgelehnt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3813048"/>
            <a:ext cx="320040" cy="36576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502920" y="381304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6112" y="38404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Sanitization (Script-Tag)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09160" y="960120"/>
            <a:ext cx="4069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4" name="Shape 22"/>
          <p:cNvSpPr/>
          <p:nvPr/>
        </p:nvSpPr>
        <p:spPr>
          <a:xfrm>
            <a:off x="4709160" y="960120"/>
            <a:ext cx="4069080" cy="41148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846320" y="960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utils.spec.ts — 35 Tests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46320" y="14447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Modul: lib/utils.ts — Hilfsfunktionen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46320" y="1764792"/>
            <a:ext cx="64008" cy="34747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8" name="Text 26"/>
          <p:cNvSpPr/>
          <p:nvPr/>
        </p:nvSpPr>
        <p:spPr>
          <a:xfrm>
            <a:off x="4992624" y="1764792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Utils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992624" y="1956816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startsWith, endsWith, contains, unquote (12 Tests)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2240280"/>
            <a:ext cx="64008" cy="34747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1" name="Text 29"/>
          <p:cNvSpPr/>
          <p:nvPr/>
        </p:nvSpPr>
        <p:spPr>
          <a:xfrm>
            <a:off x="4992624" y="224028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&amp; Truncation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992624" y="2432304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isUrl, trunc, extractFilename (8 Tests)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0" y="2715768"/>
            <a:ext cx="64008" cy="34747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4" name="Text 32"/>
          <p:cNvSpPr/>
          <p:nvPr/>
        </p:nvSpPr>
        <p:spPr>
          <a:xfrm>
            <a:off x="4992624" y="2715768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Datumsformate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992624" y="2907792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toISO8601, toMMMYY (4 Tests)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846320" y="3191256"/>
            <a:ext cx="64008" cy="34747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7" name="Text 35"/>
          <p:cNvSpPr/>
          <p:nvPr/>
        </p:nvSpPr>
        <p:spPr>
          <a:xfrm>
            <a:off x="4992624" y="3191256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992624" y="338328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toSimpleIpAddress — IPv6→IPv4 (3 Tests)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846320" y="3666744"/>
            <a:ext cx="64008" cy="34747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0" name="Text 38"/>
          <p:cNvSpPr/>
          <p:nvPr/>
        </p:nvSpPr>
        <p:spPr>
          <a:xfrm>
            <a:off x="4992624" y="3666744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&amp; Query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4992624" y="3858768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getErrorMessage, queryResultToJson (4 Tests)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846320" y="4142232"/>
            <a:ext cx="64008" cy="34747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3" name="Text 41"/>
          <p:cNvSpPr/>
          <p:nvPr/>
        </p:nvSpPr>
        <p:spPr>
          <a:xfrm>
            <a:off x="4992624" y="4142232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Patterns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4992624" y="4334256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matchesSystemIni, matchesEtcPasswd (4 Tests)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 Tests (6×) — API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16052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4160520" cy="41148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basket-items.spec.ts — 3 Tests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Endpunkt: /api/BasketItems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783080"/>
            <a:ext cx="38862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384048" cy="86868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502920" y="178308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9264" y="18745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hinzufügen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9264" y="220370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→ 200, GET bestätigt Eintrag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788920"/>
            <a:ext cx="38862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4" name="Shape 12"/>
          <p:cNvSpPr/>
          <p:nvPr/>
        </p:nvSpPr>
        <p:spPr>
          <a:xfrm>
            <a:off x="502920" y="2788920"/>
            <a:ext cx="384048" cy="86868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502920" y="278892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9264" y="28803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entfernen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9264" y="320954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→ 200, GET danach → 404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794760"/>
            <a:ext cx="38862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9" name="Shape 17"/>
          <p:cNvSpPr/>
          <p:nvPr/>
        </p:nvSpPr>
        <p:spPr>
          <a:xfrm>
            <a:off x="502920" y="3794760"/>
            <a:ext cx="384048" cy="86868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502920" y="379476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9264" y="38862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 aktualisieren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9264" y="421538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mit quantity:5 → Response enthält neuen Wert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09160" y="960120"/>
            <a:ext cx="4069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4" name="Shape 22"/>
          <p:cNvSpPr/>
          <p:nvPr/>
        </p:nvSpPr>
        <p:spPr>
          <a:xfrm>
            <a:off x="4709160" y="960120"/>
            <a:ext cx="4069080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846320" y="960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product-reviews.spec.ts — 3 Tests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46320" y="14447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Endpunkt: /rest/products/:id/reviews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46320" y="1783080"/>
            <a:ext cx="37947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8" name="Shape 26"/>
          <p:cNvSpPr/>
          <p:nvPr/>
        </p:nvSpPr>
        <p:spPr>
          <a:xfrm>
            <a:off x="4846320" y="1783080"/>
            <a:ext cx="384048" cy="8686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9" name="Text 27"/>
          <p:cNvSpPr/>
          <p:nvPr/>
        </p:nvSpPr>
        <p:spPr>
          <a:xfrm>
            <a:off x="4846320" y="178308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312664" y="18745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einreichen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312664" y="220370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→ 201, GET bestätigt Review in der Liste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46320" y="2788920"/>
            <a:ext cx="37947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33" name="Shape 31"/>
          <p:cNvSpPr/>
          <p:nvPr/>
        </p:nvSpPr>
        <p:spPr>
          <a:xfrm>
            <a:off x="4846320" y="2788920"/>
            <a:ext cx="384048" cy="8686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4" name="Text 32"/>
          <p:cNvSpPr/>
          <p:nvPr/>
        </p:nvSpPr>
        <p:spPr>
          <a:xfrm>
            <a:off x="4846320" y="278892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312664" y="2880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bearbeiten (Auth)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312664" y="320954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mit Token → 200, aktualisierter Text in Response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846320" y="3794760"/>
            <a:ext cx="37947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38" name="Shape 36"/>
          <p:cNvSpPr/>
          <p:nvPr/>
        </p:nvSpPr>
        <p:spPr>
          <a:xfrm>
            <a:off x="4846320" y="3794760"/>
            <a:ext cx="384048" cy="8686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9" name="Text 37"/>
          <p:cNvSpPr/>
          <p:nvPr/>
        </p:nvSpPr>
        <p:spPr>
          <a:xfrm>
            <a:off x="4846320" y="379476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312664" y="38862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bearbeiten (kein Auth)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312664" y="42153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ohne Token → HTTP 401 erwartet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E2E Tests (4×) — Cart &amp; Login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Browser: Firefox (Playwright). Cookie-Seeding deaktiviert Consent-Dialoge vor jedem Test.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27632"/>
            <a:ext cx="4160520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7" name="Shape 5"/>
          <p:cNvSpPr/>
          <p:nvPr/>
        </p:nvSpPr>
        <p:spPr>
          <a:xfrm>
            <a:off x="365760" y="1627632"/>
            <a:ext cx="4160520" cy="38404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502920" y="16276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cart.spec.ts — 2 Tests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103120"/>
            <a:ext cx="347472" cy="82296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502920" y="2103120"/>
            <a:ext cx="347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32688" y="215798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hinzufügen &amp; prüfen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32688" y="2450592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Suche → 2× add → Badge "2" → Basket: Inhalt, Menge, Preis vorhanden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127248"/>
            <a:ext cx="347472" cy="82296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502920" y="3127248"/>
            <a:ext cx="347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268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entfernen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32688" y="3474720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→ Basket → Löschen → Tabellenzeile weg, Badge "0"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09160" y="1627632"/>
            <a:ext cx="4069080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8" name="Shape 16"/>
          <p:cNvSpPr/>
          <p:nvPr/>
        </p:nvSpPr>
        <p:spPr>
          <a:xfrm>
            <a:off x="4709160" y="1627632"/>
            <a:ext cx="4069080" cy="384048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4846320" y="16276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login.spec.ts — 2 Tests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46320" y="2103120"/>
            <a:ext cx="347472" cy="8229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4846320" y="2103120"/>
            <a:ext cx="347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276088" y="215798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mit gültigen Credentials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76088" y="2450592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 → Login → URL wechselt auf /#/search, Account-Button sichtbar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3127248"/>
            <a:ext cx="347472" cy="8229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846320" y="3127248"/>
            <a:ext cx="347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276088" y="31821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mit falschem Passwort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276088" y="347472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Falsches PW → Fehlermeldung "Invalid email or password" erscheint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 Tests (2×) — k6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16052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4160520" cy="41148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products-search.js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/rest/products/search?q={keyword}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" y="17830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VUs: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01952" y="17830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virtuelle Nutzer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0352" y="2130552"/>
            <a:ext cx="3840480" cy="0"/>
          </a:xfrm>
          <a:prstGeom prst="line">
            <a:avLst/>
          </a:prstGeom>
          <a:noFill/>
          <a:ln w="6350">
            <a:solidFill>
              <a:srgbClr val="E2EAF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530352" y="24688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Iterationen: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01952" y="24688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gesamt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" y="2816352"/>
            <a:ext cx="3840480" cy="0"/>
          </a:xfrm>
          <a:prstGeom prst="line">
            <a:avLst/>
          </a:prstGeom>
          <a:noFill/>
          <a:ln w="6350">
            <a:solidFill>
              <a:srgbClr val="E2EAF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530352" y="31546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Time: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01952" y="31546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0–2 Sekunden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0352" y="3502152"/>
            <a:ext cx="3840480" cy="0"/>
          </a:xfrm>
          <a:prstGeom prst="line">
            <a:avLst/>
          </a:prstGeom>
          <a:noFill/>
          <a:ln w="6350">
            <a:solidFill>
              <a:srgbClr val="E2EAF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530352" y="38404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901952" y="38404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p(95) &lt; 1.200ms, Fehlerrate &lt; 1%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960120"/>
            <a:ext cx="4069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0" name="Shape 18"/>
          <p:cNvSpPr/>
          <p:nvPr/>
        </p:nvSpPr>
        <p:spPr>
          <a:xfrm>
            <a:off x="4709160" y="960120"/>
            <a:ext cx="4069080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4846320" y="960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place-order.js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46320" y="14447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→ Basket (2 Items) → Checkout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28032" y="17830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VUs: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99632" y="17830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virtuelle Nutzer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28032" y="2130552"/>
            <a:ext cx="3749040" cy="0"/>
          </a:xfrm>
          <a:prstGeom prst="line">
            <a:avLst/>
          </a:prstGeom>
          <a:noFill/>
          <a:ln w="6350">
            <a:solidFill>
              <a:srgbClr val="E2EAF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6" name="Text 24"/>
          <p:cNvSpPr/>
          <p:nvPr/>
        </p:nvSpPr>
        <p:spPr>
          <a:xfrm>
            <a:off x="4828032" y="24688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Iterationen: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99632" y="24688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gesamt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28032" y="2816352"/>
            <a:ext cx="3749040" cy="0"/>
          </a:xfrm>
          <a:prstGeom prst="line">
            <a:avLst/>
          </a:prstGeom>
          <a:noFill/>
          <a:ln w="6350">
            <a:solidFill>
              <a:srgbClr val="E2EAF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9" name="Text 27"/>
          <p:cNvSpPr/>
          <p:nvPr/>
        </p:nvSpPr>
        <p:spPr>
          <a:xfrm>
            <a:off x="4828032" y="31546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Time: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99632" y="31546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0–2 Sekunden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28032" y="3502152"/>
            <a:ext cx="3749040" cy="0"/>
          </a:xfrm>
          <a:prstGeom prst="line">
            <a:avLst/>
          </a:prstGeom>
          <a:noFill/>
          <a:ln w="6350">
            <a:solidFill>
              <a:srgbClr val="E2EAF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2" name="Text 30"/>
          <p:cNvSpPr/>
          <p:nvPr/>
        </p:nvSpPr>
        <p:spPr>
          <a:xfrm>
            <a:off x="4828032" y="38404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99632" y="38404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p(95) &lt; 2.000ms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Zusammenfassung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11480" cy="47548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1115568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Tests implementiert — 40 Unit, 6 Integration, 4 E2E, 2 Load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55648"/>
            <a:ext cx="411480" cy="47548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457200" y="1755648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1773936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deckt alle funktionalen Test-Ebenen ab (TypeScript)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14016"/>
            <a:ext cx="411480" cy="47548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457200" y="2414016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2432304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k6: Product Search p95=352ms (0% Fehler) · Checkout-Flow p95&lt;2.000ms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72384"/>
            <a:ext cx="411480" cy="47548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457200" y="3072384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0120" y="3090672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CI/CD Pipeline automatisiert Test-Ausführung auf Push/PR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730752"/>
            <a:ext cx="411480" cy="47548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457200" y="37307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60120" y="3749040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Test-Isolation durch Serial-Execution und Cookie-Seeding sichergestellt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7920" y="1371600"/>
            <a:ext cx="2651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6394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Fragen?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633</Words>
  <Application>Microsoft Office PowerPoint</Application>
  <PresentationFormat>Bildschirmpräsentation (16:9)</PresentationFormat>
  <Paragraphs>141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Arial</vt:lpstr>
      <vt:lpstr>Calibri</vt:lpstr>
      <vt:lpstr>Trebuchet MS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Application Testing — OWASP Juice Shop</dc:title>
  <dc:subject>PptxGenJS Presentation</dc:subject>
  <dc:creator>Christoph Herndler</dc:creator>
  <cp:lastModifiedBy>Herndler-Brandstetter Christoph - s2410307012</cp:lastModifiedBy>
  <cp:revision>2</cp:revision>
  <dcterms:created xsi:type="dcterms:W3CDTF">2026-06-25T16:50:16Z</dcterms:created>
  <dcterms:modified xsi:type="dcterms:W3CDTF">2026-06-25T17:07:39Z</dcterms:modified>
</cp:coreProperties>
</file>