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rts/chart1.xml" ContentType="application/vnd.openxmlformats-officedocument.drawingml.chart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60" d="100"/>
          <a:sy n="160" d="100"/>
        </p:scale>
        <p:origin x="514" y="1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Gemessener Wert</c:v>
                </c:pt>
              </c:strCache>
            </c:strRef>
          </c:tx>
          <c:spPr>
            <a:solidFill>
              <a:srgbClr val="457B9D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9A10-4C2B-88F4-695A11A09A62}"/>
              </c:ext>
            </c:extLst>
          </c:dPt>
          <c:dPt>
            <c:idx val="1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3-9A10-4C2B-88F4-695A11A09A62}"/>
              </c:ext>
            </c:extLst>
          </c:dPt>
          <c:dPt>
            <c:idx val="2"/>
            <c:invertIfNegative val="0"/>
            <c:bubble3D val="0"/>
            <c:spPr>
              <a:solidFill>
                <a:srgbClr val="1A7D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9A10-4C2B-88F4-695A11A09A62}"/>
              </c:ext>
            </c:extLst>
          </c:dPt>
          <c:dPt>
            <c:idx val="3"/>
            <c:invertIfNegative val="0"/>
            <c:bubble3D val="0"/>
            <c:spPr>
              <a:solidFill>
                <a:srgbClr val="E63946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9A10-4C2B-88F4-695A11A09A62}"/>
              </c:ext>
            </c:extLst>
          </c:dPt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200" b="0" i="0" u="none" strike="noStrike">
                    <a:solidFill>
                      <a:srgbClr val="1D3557"/>
                    </a:solidFill>
                    <a:latin typeface="Arial"/>
                  </a:defRPr>
                </a:pPr>
                <a:endParaRPr lang="de-DE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p(50) Response Time</c:v>
                </c:pt>
                <c:pt idx="1">
                  <c:v>p(90) Response Time</c:v>
                </c:pt>
                <c:pt idx="2">
                  <c:v>p(95) Response Time</c:v>
                </c:pt>
                <c:pt idx="3">
                  <c:v>Threshold p(95)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180</c:v>
                </c:pt>
                <c:pt idx="1">
                  <c:v>310</c:v>
                </c:pt>
                <c:pt idx="2">
                  <c:v>352</c:v>
                </c:pt>
                <c:pt idx="3">
                  <c:v>1200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9A10-4C2B-88F4-695A11A09A6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A9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400"/>
        </c:scaling>
        <c:delete val="0"/>
        <c:axPos val="l"/>
        <c:majorGridlines>
          <c:spPr>
            <a:ln w="6350" cap="flat">
              <a:solidFill>
                <a:srgbClr val="E2EAF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7A9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1439980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8686800" y="0"/>
            <a:ext cx="457200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Text 2"/>
          <p:cNvSpPr/>
          <p:nvPr/>
        </p:nvSpPr>
        <p:spPr>
          <a:xfrm>
            <a:off x="502920" y="109728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457B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WAT4 · Projektarbeit · Juni 2026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02920" y="1463040"/>
            <a:ext cx="5943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Web Application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502920" y="320040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A8B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OWASP Juice Shop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02920" y="3703320"/>
            <a:ext cx="1828800" cy="54864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502920" y="388620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8BF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Christoph Herndler, Lucas Kemmer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Anwendungsübersicht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38912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02920" y="114300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Was ist OWASP Juice Shop?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94360" y="1627632"/>
            <a:ext cx="4023360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Eine absichtlich verwundbare Web-Applikation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Entwickelt für Security-Training und CTFs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Simuliert einen realistischen E-Commerce-Shop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Deckt OWASP Top 10 Schwachstellen ab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juice-shop/juice-shop (Fork: juice-shop-wat4)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029200" y="1005840"/>
            <a:ext cx="3749040" cy="36576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5166360" y="114300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Tech Stack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212080" y="1664208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5212080" y="166420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Node.js / TypeScript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212080" y="2231136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212080" y="2231136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Angular (Frontend)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212080" y="2798064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212080" y="279806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Express (REST API)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212080" y="3364992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212080" y="336499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SQLite / Sequelize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212080" y="3931920"/>
            <a:ext cx="3383280" cy="420624"/>
          </a:xfrm>
          <a:prstGeom prst="roundRect">
            <a:avLst>
              <a:gd name="adj" fmla="val 21739"/>
            </a:avLst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5212080" y="3931920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MongoDB / MarsDB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Pyramide &amp; Strategie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1737360" y="1554480"/>
            <a:ext cx="1097280" cy="65836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1783080" y="1554480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40280" y="166420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1234440" y="2331720"/>
            <a:ext cx="2103120" cy="658368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1280160" y="2331720"/>
            <a:ext cx="1463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/ System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743200" y="244144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4×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731520" y="3108960"/>
            <a:ext cx="3108960" cy="658368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777240" y="3108960"/>
            <a:ext cx="24688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46120" y="321868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228600" y="3886200"/>
            <a:ext cx="4114800" cy="658368"/>
          </a:xfrm>
          <a:prstGeom prst="rect">
            <a:avLst/>
          </a:prstGeom>
          <a:solidFill>
            <a:srgbClr val="5B8FBE"/>
          </a:solidFill>
          <a:ln w="12700">
            <a:solidFill>
              <a:srgbClr val="5B8FBE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274320" y="388620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49040" y="3995928"/>
            <a:ext cx="548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10×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4663440" y="1005840"/>
            <a:ext cx="41148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4846320" y="109728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Frameworks &amp; Tools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800600" y="1600200"/>
            <a:ext cx="37490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4983480" y="166420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243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Playwright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4983480" y="199339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 · Integration · E2E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800600" y="2697480"/>
            <a:ext cx="37490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4983480" y="276148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6394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k6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983480" y="309067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Testing (Grafana Labs)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00600" y="3794760"/>
            <a:ext cx="3749040" cy="8686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983480" y="3858768"/>
            <a:ext cx="3383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457B9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GitHub Actions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983480" y="4187952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CI/CD Pipeline (automatisiert)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Setup &amp; Isolation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11480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64008" cy="16459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530352" y="111556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Ausführung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30352" y="1527048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npx playwright test — führt alle Unit-, Integration- und E2E-Tests aus. npm run test:product-search:k6 startet den Load Test gegen eine laufende Instanz.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63440" y="1005840"/>
            <a:ext cx="411480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9" name="Shape 7"/>
          <p:cNvSpPr/>
          <p:nvPr/>
        </p:nvSpPr>
        <p:spPr>
          <a:xfrm>
            <a:off x="4663440" y="1005840"/>
            <a:ext cx="64008" cy="16459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4828032" y="111556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Isolation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28032" y="1527048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Jeder Test verwendet eigene Credentials (jim@juice-sh.op). Basket-Tests laufen serial (test.describe.serial), um Race Conditions zu vermeiden. UI-Tests setzen Cookies vor Navigation.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65760" y="2834640"/>
            <a:ext cx="411480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3" name="Shape 11"/>
          <p:cNvSpPr/>
          <p:nvPr/>
        </p:nvSpPr>
        <p:spPr>
          <a:xfrm>
            <a:off x="365760" y="2834640"/>
            <a:ext cx="64008" cy="16459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530352" y="294436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CI/CD Pipeline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530352" y="3355848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(.github/workflows/playwright.yml) — trigger on push/PR to main. Installiert Dependencies, Playwright-Browser, führt Tests aus, lädt Reports als Artifacts hoch.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834640"/>
            <a:ext cx="4114800" cy="1645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7" name="Shape 15"/>
          <p:cNvSpPr/>
          <p:nvPr/>
        </p:nvSpPr>
        <p:spPr>
          <a:xfrm>
            <a:off x="4663440" y="2834640"/>
            <a:ext cx="64008" cy="16459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4828032" y="2944368"/>
            <a:ext cx="3886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 Konfiguration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28032" y="3355848"/>
            <a:ext cx="385876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playwright.config.ts definiert baseURL (http://localhost:3000). Umgebungsvariable PLAYWRIGHT_BASE_URL überschreibbar für CI. k6 nutzt BASE_URL Environment-Variable.</a:t>
            </a:r>
            <a:endParaRPr lang="en-US" sz="11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Unit Tests (5×) — lib/insecurity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Getestetes Modul: lib/insecurity.ts — Sicherheitshilfsfunktionen (Coupons, JWT, Sanitization). Framework: Playwright Test Runner (direkte TypeScript Imports, kein Browser nötig).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457200" cy="475488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7" name="Text 5"/>
          <p:cNvSpPr/>
          <p:nvPr/>
        </p:nvSpPr>
        <p:spPr>
          <a:xfrm>
            <a:off x="365760" y="1828800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1828800"/>
            <a:ext cx="78638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1005840" y="1865376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Coupon Round-Trip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05840" y="2075688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Stellt sicher, dass ein generierter Coupon denselben Rabatt zurückliefert → korrekte Encode/Decode Logik.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65760" y="2450592"/>
            <a:ext cx="457200" cy="475488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365760" y="2450592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14400" y="2450592"/>
            <a:ext cx="7863840" cy="475488"/>
          </a:xfrm>
          <a:prstGeom prst="rect">
            <a:avLst/>
          </a:prstGeom>
          <a:solidFill>
            <a:srgbClr val="EBF2FA"/>
          </a:solidFill>
          <a:ln w="6350">
            <a:solidFill>
              <a:srgbClr val="D0DF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1005840" y="2487168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Abgelaufener Coupon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697480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Überprüft, dass ein Coupon aus der Vergangenheit (2001) als ungültig abgewiesen wird → zeitbasierte Validierung.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65760" y="3072384"/>
            <a:ext cx="457200" cy="475488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365760" y="3072384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914400" y="3072384"/>
            <a:ext cx="78638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1005840" y="3108960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JWT Signierung &amp; Verify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05840" y="3319272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Frisch signiertes Token muss als valid gelten → Grundfunktion der Authentifizierung.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365760" y="3694176"/>
            <a:ext cx="457200" cy="475488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2" name="Text 20"/>
          <p:cNvSpPr/>
          <p:nvPr/>
        </p:nvSpPr>
        <p:spPr>
          <a:xfrm>
            <a:off x="365760" y="3694176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914400" y="3694176"/>
            <a:ext cx="7863840" cy="475488"/>
          </a:xfrm>
          <a:prstGeom prst="rect">
            <a:avLst/>
          </a:prstGeom>
          <a:solidFill>
            <a:srgbClr val="EBF2FA"/>
          </a:solidFill>
          <a:ln w="6350">
            <a:solidFill>
              <a:srgbClr val="D0DF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1005840" y="3730752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Manipuliertes JWT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1005840" y="3941064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Ein verändertes Token (letztes Zeichen geändert) muss abgelehnt werden → Tamper-Detection.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365760" y="4315968"/>
            <a:ext cx="457200" cy="475488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365760" y="4315968"/>
            <a:ext cx="457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914400" y="4315968"/>
            <a:ext cx="7863840" cy="475488"/>
          </a:xfrm>
          <a:prstGeom prst="rect">
            <a:avLst/>
          </a:prstGeom>
          <a:solidFill>
            <a:srgbClr val="FFFFFF"/>
          </a:solidFill>
          <a:ln w="6350">
            <a:solidFill>
              <a:srgbClr val="D0DFF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9" name="Text 27"/>
          <p:cNvSpPr/>
          <p:nvPr/>
        </p:nvSpPr>
        <p:spPr>
          <a:xfrm>
            <a:off x="1005840" y="4352544"/>
            <a:ext cx="21031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XSS Sanitization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1005840" y="4562856"/>
            <a:ext cx="75895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Script-Tags werden entfernt, sicherer HTML-Content bleibt erhalten → Schutz vor Cross-Site-Scripting.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Integration Tests (3×) — Basket API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64008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48640" y="1078992"/>
            <a:ext cx="80467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Getesteter Endpunkt: /api/BasketItems — HTTP-Requests via Playwright APIRequestContext. Login als jim@juice-sh.op, dann CRUD-Operationen auf echtem Backend (SQLite).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828800"/>
            <a:ext cx="84124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64008" cy="91440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Shape 6"/>
          <p:cNvSpPr/>
          <p:nvPr/>
        </p:nvSpPr>
        <p:spPr>
          <a:xfrm>
            <a:off x="502920" y="1874520"/>
            <a:ext cx="438912" cy="384048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502920" y="1874520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051560" y="1901952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Produkt zum Warenkorb hinzufügen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051560" y="221284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Was: POST /api/BasketItems → HTTP 200, korrektes BasketId &amp; ProductId in Response + GET /rest/basket/:id bestätigt Eintrag.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051560" y="2450592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Warum: Kernanforderung: Artikel müssen im Backend persistiert werden.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4" name="Shape 12"/>
          <p:cNvSpPr/>
          <p:nvPr/>
        </p:nvSpPr>
        <p:spPr>
          <a:xfrm>
            <a:off x="365760" y="2852928"/>
            <a:ext cx="64008" cy="91440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Shape 13"/>
          <p:cNvSpPr/>
          <p:nvPr/>
        </p:nvSpPr>
        <p:spPr>
          <a:xfrm>
            <a:off x="502920" y="2898648"/>
            <a:ext cx="438912" cy="384048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02920" y="2898648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1051560" y="2926080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Artikel aus Warenkorb entfernen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051560" y="3236976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Was: POST zum Anlegen, dann DELETE /api/BasketItems/:id → HTTP 200. Anschließend GET → HTTP 404.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51560" y="3474720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Warum: Löschen darf keine Zombie-Einträge hinterlassen.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365760" y="3877056"/>
            <a:ext cx="8412480" cy="914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1" name="Shape 19"/>
          <p:cNvSpPr/>
          <p:nvPr/>
        </p:nvSpPr>
        <p:spPr>
          <a:xfrm>
            <a:off x="365760" y="3877056"/>
            <a:ext cx="64008" cy="91440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2" name="Shape 20"/>
          <p:cNvSpPr/>
          <p:nvPr/>
        </p:nvSpPr>
        <p:spPr>
          <a:xfrm>
            <a:off x="502920" y="3922776"/>
            <a:ext cx="438912" cy="384048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502920" y="3922776"/>
            <a:ext cx="438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1051560" y="395020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Menge eines Artikels aktualisieren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1051560" y="4261104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Was: Artikel anlegen (quantity: 2), dann PUT /api/BasketItems/:id mit quantity: 5 → Response enthält aktualisierte Menge.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051560" y="4498848"/>
            <a:ext cx="7498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Warum: Mengenänderung ist kritischer Business-Flow vor dem Checkout.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E2E Tests (2×) — Shopping Cart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8412480" cy="59436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48640" y="1060704"/>
            <a:ext cx="80467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Browser: Firefox (Playwright). Cookie-Seeding deaktiviert Consent-Dialoge vor jedem Test — kein manueller Klick nötig.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42062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7" name="Shape 5"/>
          <p:cNvSpPr/>
          <p:nvPr/>
        </p:nvSpPr>
        <p:spPr>
          <a:xfrm>
            <a:off x="365760" y="1783080"/>
            <a:ext cx="4206240" cy="438912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502920" y="178308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1 — Artikel hinzufügen &amp; Basket prüfen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02920" y="2359152"/>
            <a:ext cx="347472" cy="45720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0" name="Text 8"/>
          <p:cNvSpPr/>
          <p:nvPr/>
        </p:nvSpPr>
        <p:spPr>
          <a:xfrm>
            <a:off x="502920" y="2359152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32688" y="240487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Suche nach "Apple Juice"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02920" y="3017520"/>
            <a:ext cx="347472" cy="45720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3" name="Text 11"/>
          <p:cNvSpPr/>
          <p:nvPr/>
        </p:nvSpPr>
        <p:spPr>
          <a:xfrm>
            <a:off x="502920" y="301752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32688" y="30632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Add-Button 2× klicken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02920" y="3675888"/>
            <a:ext cx="347472" cy="45720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6" name="Text 14"/>
          <p:cNvSpPr/>
          <p:nvPr/>
        </p:nvSpPr>
        <p:spPr>
          <a:xfrm>
            <a:off x="502920" y="3675888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932688" y="372160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zeigt "2" → State korrekt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02920" y="4334256"/>
            <a:ext cx="347472" cy="45720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9" name="Text 17"/>
          <p:cNvSpPr/>
          <p:nvPr/>
        </p:nvSpPr>
        <p:spPr>
          <a:xfrm>
            <a:off x="502920" y="4334256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32688" y="437997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öffnen → Produkt &amp; Menge &amp; Preis sichtbar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754880" y="1783080"/>
            <a:ext cx="4206240" cy="320040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2" name="Shape 20"/>
          <p:cNvSpPr/>
          <p:nvPr/>
        </p:nvSpPr>
        <p:spPr>
          <a:xfrm>
            <a:off x="4754880" y="1783080"/>
            <a:ext cx="4206240" cy="438912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3" name="Text 21"/>
          <p:cNvSpPr/>
          <p:nvPr/>
        </p:nvSpPr>
        <p:spPr>
          <a:xfrm>
            <a:off x="4892040" y="1783080"/>
            <a:ext cx="393192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2 — Artikel entfernen &amp; Badge zurücksetzen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892040" y="2359152"/>
            <a:ext cx="347472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5" name="Text 23"/>
          <p:cNvSpPr/>
          <p:nvPr/>
        </p:nvSpPr>
        <p:spPr>
          <a:xfrm>
            <a:off x="4892040" y="2359152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5321808" y="240487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Produkt in Basket legen → Badge zeigt "1"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4892040" y="3017520"/>
            <a:ext cx="347472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8" name="Text 26"/>
          <p:cNvSpPr/>
          <p:nvPr/>
        </p:nvSpPr>
        <p:spPr>
          <a:xfrm>
            <a:off x="4892040" y="3017520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321808" y="30632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Basket öffnen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4892040" y="3675888"/>
            <a:ext cx="347472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1" name="Text 29"/>
          <p:cNvSpPr/>
          <p:nvPr/>
        </p:nvSpPr>
        <p:spPr>
          <a:xfrm>
            <a:off x="4892040" y="3675888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321808" y="372160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Löschen-Button klicken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4892040" y="4334256"/>
            <a:ext cx="347472" cy="4572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4" name="Text 32"/>
          <p:cNvSpPr/>
          <p:nvPr/>
        </p:nvSpPr>
        <p:spPr>
          <a:xfrm>
            <a:off x="4892040" y="4334256"/>
            <a:ext cx="347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5321808" y="437997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Tabellenzeile weg, Badge zeigt "0"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 Test (1×) — k6 Product Search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57200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Test-Konfiguration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2057400" y="160020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(Grafana Labs)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411480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9" name="Text 7"/>
          <p:cNvSpPr/>
          <p:nvPr/>
        </p:nvSpPr>
        <p:spPr>
          <a:xfrm>
            <a:off x="548640" y="2121408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Endpunkt: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2057400" y="2121408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/rest/products/search?q={keyword}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441448"/>
            <a:ext cx="411480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548640" y="2642616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VUs: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057400" y="2642616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virtuelle Nutzer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2962656"/>
            <a:ext cx="411480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5" name="Text 13"/>
          <p:cNvSpPr/>
          <p:nvPr/>
        </p:nvSpPr>
        <p:spPr>
          <a:xfrm>
            <a:off x="548640" y="3163824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Iterationen: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057400" y="31638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gesamt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3483864"/>
            <a:ext cx="411480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8" name="Text 16"/>
          <p:cNvSpPr/>
          <p:nvPr/>
        </p:nvSpPr>
        <p:spPr>
          <a:xfrm>
            <a:off x="548640" y="3685032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Time: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2057400" y="368503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0–2 Sekunden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005072"/>
            <a:ext cx="4114800" cy="0"/>
          </a:xfrm>
          <a:prstGeom prst="line">
            <a:avLst/>
          </a:prstGeom>
          <a:noFill/>
          <a:ln w="6350">
            <a:solidFill>
              <a:srgbClr val="E2EAF4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1" name="Text 19"/>
          <p:cNvSpPr/>
          <p:nvPr/>
        </p:nvSpPr>
        <p:spPr>
          <a:xfrm>
            <a:off x="548640" y="4206240"/>
            <a:ext cx="1463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2435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Keywords: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057400" y="4206240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D35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apple, juice, raspberry, banana, organic, chocolate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212080" y="1005840"/>
            <a:ext cx="3566160" cy="39319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4" name="Text 22"/>
          <p:cNvSpPr/>
          <p:nvPr/>
        </p:nvSpPr>
        <p:spPr>
          <a:xfrm>
            <a:off x="5394960" y="109728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Thresholds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5349240" y="1600200"/>
            <a:ext cx="3246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26" name="Shape 24"/>
          <p:cNvSpPr/>
          <p:nvPr/>
        </p:nvSpPr>
        <p:spPr>
          <a:xfrm>
            <a:off x="5349240" y="1600200"/>
            <a:ext cx="3246120" cy="411480"/>
          </a:xfrm>
          <a:prstGeom prst="rect">
            <a:avLst/>
          </a:prstGeom>
          <a:solidFill>
            <a:srgbClr val="457B9D"/>
          </a:solidFill>
          <a:ln w="12700">
            <a:solidFill>
              <a:srgbClr val="457B9D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27" name="Text 25"/>
          <p:cNvSpPr/>
          <p:nvPr/>
        </p:nvSpPr>
        <p:spPr>
          <a:xfrm>
            <a:off x="5440680" y="160020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http_req_duration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440680" y="20574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457B9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p(95) &lt; 1200ms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5440680" y="2404872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95% der Requests müssen unter 1,2 Sekunden bleiben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5349240" y="3246120"/>
            <a:ext cx="3246120" cy="141732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31" name="Shape 29"/>
          <p:cNvSpPr/>
          <p:nvPr/>
        </p:nvSpPr>
        <p:spPr>
          <a:xfrm>
            <a:off x="5349240" y="3246120"/>
            <a:ext cx="3246120" cy="411480"/>
          </a:xfrm>
          <a:prstGeom prst="rect">
            <a:avLst/>
          </a:prstGeom>
          <a:solidFill>
            <a:srgbClr val="243560"/>
          </a:solidFill>
          <a:ln w="12700">
            <a:solidFill>
              <a:srgbClr val="243560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2" name="Text 30"/>
          <p:cNvSpPr/>
          <p:nvPr/>
        </p:nvSpPr>
        <p:spPr>
          <a:xfrm>
            <a:off x="5440680" y="3246120"/>
            <a:ext cx="3063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http_req_failed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5440680" y="370332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43560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rate &lt; 1%</a:t>
            </a:r>
            <a:endParaRPr lang="en-US" sz="1600" dirty="0"/>
          </a:p>
        </p:txBody>
      </p:sp>
      <p:sp>
        <p:nvSpPr>
          <p:cNvPr id="34" name="Text 32"/>
          <p:cNvSpPr/>
          <p:nvPr/>
        </p:nvSpPr>
        <p:spPr>
          <a:xfrm>
            <a:off x="5440680" y="4050792"/>
            <a:ext cx="30632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Fehlerrate (Non-2xx) muss unter 1% bleiben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D3557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Load Test Ergebnisse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457200" y="822960"/>
            <a:ext cx="1097280" cy="4572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4" name="Shape 2"/>
          <p:cNvSpPr/>
          <p:nvPr/>
        </p:nvSpPr>
        <p:spPr>
          <a:xfrm>
            <a:off x="365760" y="1005840"/>
            <a:ext cx="41148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5" name="Shape 3"/>
          <p:cNvSpPr/>
          <p:nvPr/>
        </p:nvSpPr>
        <p:spPr>
          <a:xfrm>
            <a:off x="365760" y="1005840"/>
            <a:ext cx="4114800" cy="457200"/>
          </a:xfrm>
          <a:prstGeom prst="rect">
            <a:avLst/>
          </a:prstGeom>
          <a:solidFill>
            <a:srgbClr val="1A7D4A"/>
          </a:solidFill>
          <a:ln w="12700">
            <a:solidFill>
              <a:srgbClr val="1A7D4A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Response Time p(95)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5087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7D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352ms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2350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&lt; 1.200ms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267004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1A7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71% unter Limit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05840"/>
            <a:ext cx="4114800" cy="1920240"/>
          </a:xfrm>
          <a:prstGeom prst="rect">
            <a:avLst/>
          </a:prstGeom>
          <a:solidFill>
            <a:srgbClr val="FFFFFF"/>
          </a:solidFill>
          <a:ln w="6350">
            <a:solidFill>
              <a:srgbClr val="E2EAF4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de-AT"/>
          </a:p>
        </p:txBody>
      </p:sp>
      <p:sp>
        <p:nvSpPr>
          <p:cNvPr id="11" name="Shape 9"/>
          <p:cNvSpPr/>
          <p:nvPr/>
        </p:nvSpPr>
        <p:spPr>
          <a:xfrm>
            <a:off x="4663440" y="1005840"/>
            <a:ext cx="4114800" cy="457200"/>
          </a:xfrm>
          <a:prstGeom prst="rect">
            <a:avLst/>
          </a:prstGeom>
          <a:solidFill>
            <a:srgbClr val="1A7D4A"/>
          </a:solidFill>
          <a:ln w="12700">
            <a:solidFill>
              <a:srgbClr val="1A7D4A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2" name="Text 10"/>
          <p:cNvSpPr/>
          <p:nvPr/>
        </p:nvSpPr>
        <p:spPr>
          <a:xfrm>
            <a:off x="4754880" y="1005840"/>
            <a:ext cx="3931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Fehlerrate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754880" y="1508760"/>
            <a:ext cx="3931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1A7D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0,00%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754880" y="2350008"/>
            <a:ext cx="3931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C7A9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Threshold: &lt; 1%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754880" y="2670048"/>
            <a:ext cx="3931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i="1" dirty="0">
                <a:solidFill>
                  <a:srgbClr val="1A7D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Keine fehlgeschlagenen Requests</a:t>
            </a:r>
            <a:endParaRPr lang="en-US" sz="1100" dirty="0"/>
          </a:p>
        </p:txBody>
      </p:sp>
      <p:graphicFrame>
        <p:nvGraphicFramePr>
          <p:cNvPr id="16" name="Chart 0"/>
          <p:cNvGraphicFramePr/>
          <p:nvPr/>
        </p:nvGraphicFramePr>
        <p:xfrm>
          <a:off x="365760" y="3063240"/>
          <a:ext cx="8412480" cy="1920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37160" cy="5143500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3" name="Text 1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Zusammenfassung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097280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5" name="Text 3"/>
          <p:cNvSpPr/>
          <p:nvPr/>
        </p:nvSpPr>
        <p:spPr>
          <a:xfrm>
            <a:off x="457200" y="1097280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960120" y="1115568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Tests implementiert — 5 Unit, 3 Integration, 2 E2E, 1 Load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457200" y="1755648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8" name="Text 6"/>
          <p:cNvSpPr/>
          <p:nvPr/>
        </p:nvSpPr>
        <p:spPr>
          <a:xfrm>
            <a:off x="457200" y="1755648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" y="1773936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Playwright deckt alle funktionalen Test-Ebenen ab (TypeScript)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457200" y="2414016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1" name="Text 9"/>
          <p:cNvSpPr/>
          <p:nvPr/>
        </p:nvSpPr>
        <p:spPr>
          <a:xfrm>
            <a:off x="457200" y="2414016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60120" y="2432304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k6 Load Test: p95 = 352ms, 0% Fehler — alle Thresholds bestanden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57200" y="3072384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4" name="Text 12"/>
          <p:cNvSpPr/>
          <p:nvPr/>
        </p:nvSpPr>
        <p:spPr>
          <a:xfrm>
            <a:off x="457200" y="3072384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60120" y="3090672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CI/CD Pipeline automatisiert Test-Ausführung auf Push/PR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730752"/>
            <a:ext cx="411480" cy="475488"/>
          </a:xfrm>
          <a:prstGeom prst="rect">
            <a:avLst/>
          </a:prstGeom>
          <a:solidFill>
            <a:srgbClr val="E63946"/>
          </a:solidFill>
          <a:ln w="12700">
            <a:solidFill>
              <a:srgbClr val="E63946"/>
            </a:solidFill>
            <a:prstDash val="solid"/>
          </a:ln>
        </p:spPr>
        <p:txBody>
          <a:bodyPr/>
          <a:lstStyle/>
          <a:p>
            <a:endParaRPr lang="de-AT"/>
          </a:p>
        </p:txBody>
      </p:sp>
      <p:sp>
        <p:nvSpPr>
          <p:cNvPr id="17" name="Text 15"/>
          <p:cNvSpPr/>
          <p:nvPr/>
        </p:nvSpPr>
        <p:spPr>
          <a:xfrm>
            <a:off x="457200" y="3730752"/>
            <a:ext cx="411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60120" y="3749040"/>
            <a:ext cx="7315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C5D8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Test-Isolation durch Serial-Execution und Cookie-Seeding sichergestellt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7200" y="443484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8BAF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KI-Werkzeuge: GitHub Copilot (Ideen &amp; Playwright-Konfiguration), Claude (Dokumentation &amp; Präsentation)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217920" y="1371600"/>
            <a:ext cx="2651760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E6394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Fragen?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872</Words>
  <Application>Microsoft Office PowerPoint</Application>
  <PresentationFormat>Bildschirmpräsentation (16:9)</PresentationFormat>
  <Paragraphs>147</Paragraphs>
  <Slides>10</Slides>
  <Notes>10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4" baseType="lpstr">
      <vt:lpstr>Arial</vt:lpstr>
      <vt:lpstr>Calibri</vt:lpstr>
      <vt:lpstr>Trebuchet MS</vt:lpstr>
      <vt:lpstr>Office Theme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Web Application Testing — OWASP Juice Shop</dc:title>
  <dc:subject>PptxGenJS Presentation</dc:subject>
  <dc:creator>Christoph Herndler</dc:creator>
  <cp:lastModifiedBy>Herndler-Brandstetter Christoph - s2410307012</cp:lastModifiedBy>
  <cp:revision>2</cp:revision>
  <dcterms:created xsi:type="dcterms:W3CDTF">2026-06-24T16:41:08Z</dcterms:created>
  <dcterms:modified xsi:type="dcterms:W3CDTF">2026-06-24T16:53:15Z</dcterms:modified>
</cp:coreProperties>
</file>